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evaluators. Today we present CDMS for Gate No. 2 parcel management. We will demonstrate how our system strictly satisfies all 10 Low-Level Design evaluation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No. 2 suffers from long student queues, lost parcels, and zero proof of delivery. CDMS solves this by digitizing the entire lifecycle with atomic CAS operations and cryptographic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chose a Layered Modular Monolith over microservices. A campus gate needs sub-15ms latency and atomic consistency without the complexity of distributed two-phase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rigorously enforce boundaries across 3 actors. Our NFRs guarantee that even under heavy concurrent staff interactions, no parcel can ever be double-collected.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backend/app/infrastructure/models.py, ten core entities inherit from Document. The 1 to 0..1 relationship between Package and PickupRecord is locked by a unique database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typing.Protocol for structural subtyping. Services depend purely on abstractions, and business constraints are tightly encapsulated within domain value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service has one reason to change. If a new SMS channel or storage strategy is introduced, we simply add a class and register it in container.py without modifying existing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table-driven State machine eliminates spaghetti if/elif statements while avoiding 12 bloated GoF classes. Observer pattern decouples notification delivery from database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sequence diagram details our concurrent handover verification. The atomic CAS operation mark_used() guarantees that exactly one guard can collect a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REST API enforces strict validation and privacy masking. Role-aware presenters ensure students never see staff notes or internal guard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achieve race-free execution in MongoDB using atomic Compare-And-Swap operations. Two concurrent requests for the final shelf slot cannot both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designed defensive programming guards for over 20 real-world edge cases, from brute-force token lockouts to automated 3-day overdue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entire system is backed by 81 automated tests that verify state transitions, role security, and concurrent handovers with a 100% pass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present our live demonstration. In side-by-side browser windows, we show intake, auto-allocation, token generation, handover, and our instant 409 conflict rejection on duplicate pickup.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Milestone 1, our architecture handles 5,000 students effortlessly. For Milestone 2, our roadmap introduces database sharding and the Transactional Outbox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CDMS fulfills every LLD requirement. We have our codebase and tests open for your inspection.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Campus Delivery Management System (CDMS)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Gate No. 2 High-Concurrency Parcel Custody &amp; Verification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Final Year Capstone Project Evaluation: System Design &amp; System Development (LLD)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Evaluation Period: First Week of November 2026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Zero-Loss Custody Chain: 4-layer defence-in-depth against double-handover fraud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Atomic CAS Concurrency: Race-free shelf reservation &amp; single-use pickup tokens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81 Automated Tests: Unit, integration &amp; race conditions with 100% pass rate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Full Bilingual Localization: English and Hindi support across 3 actor dashboards</a:t>
            </a:r>
          </a:p>
        </p:txBody>
      </p:sp>
      <p:pic>
        <p:nvPicPr>
          <p:cNvPr id="5" name="Picture 4" descr="11_componen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Statement: Gate No. 2 Operational Chaos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The Operational Bottleneck at University Campus Entrance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400+ Daily Shipments: Influx from Amazon, Flipkart, BlueDart, DTDC, India Post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Manual Paper Registers: Illegible records, manual phone searching, zero instant audit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Identity Impersonation: Students claiming others' parcels without cryptographic proof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Shelf Overfill &amp; Damage: Lack of capacity-aware storage leads to misplaced/broken goods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Overdue Dormancy: Parcels languish for weeks with no automated student reminders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Solution: 100% digital custody, salted HMAC-SHA256 tokens, automated 3-day overdue alerts</a:t>
            </a:r>
          </a:p>
        </p:txBody>
      </p:sp>
      <p:pic>
        <p:nvPicPr>
          <p:cNvPr id="5" name="Picture 4" descr="01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7009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Architecture (Layered Monolith)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Clean / Onion Architecture with Zero-Dependency Domain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Presentation Layer: React 18, TypeScript, Tailwind CSS, Lucide, Bilingual i18n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API Layer: FastAPI REST routes, OAuth2 JWT bearer auth, Pydantic v2 DTOs, Role-Aware Presenters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Application Services: PackageIntakeService, StorageAllocationService, PickupService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Pure Domain Core: Finite State Machine table &amp; guards, Strategy algorithms, EventBus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Persistence: Unit of Work &amp; PyMongo Repositories with atomic CAS queries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Architectural Decision: Layered Monolith chosen over microservices to eliminate distributed 2PC latency</a:t>
            </a:r>
          </a:p>
        </p:txBody>
      </p:sp>
      <p:pic>
        <p:nvPicPr>
          <p:cNvPr id="5" name="Picture 4" descr="11_componen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1: Requirement Analysis (FRs, NFRs &amp; Actors)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Role-Based Access Control and System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Three Strict Human Actors: Security Staff, Learners, and Operations Admins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FR-1 to FR-3: Rapid intake barcode scanning, size-aware bin allocation, multi-channel alerts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FR-4 to FR-6: Cryptographic one-time pickup tokens, atomic handover, dispute management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NFR-1 (Atomicity): Zero double-delivery, zero shelf overfills under concurrency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NFR-2 (Security): Student data isolation; salted HMAC tokens never stored in plaintext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NFR-3 (Idempotency): Safe mutation retries via client-supplied Idempotency-Key headers</a:t>
            </a:r>
          </a:p>
        </p:txBody>
      </p:sp>
      <p:pic>
        <p:nvPicPr>
          <p:cNvPr id="5" name="Picture 4" descr="01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7009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2: Class Diagram &amp; Domain Entities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Document Entity Hierarchy &amp; Structural Multiplicities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Document Base Model: Common identity (id: int), timestamps, serialization (to_doc, from_doc)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10 Derived Entities: User, Package, StorageLocation, PickupToken, PickupRecord, Incident, etc.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Multiplicity: User (1) -- (0..*) Package (Student owns zero or many packages)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Multiplicity: Package (0..1) -- (0..1) StorageLocation (occupied_count &lt;= capacity)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Multiplicity: Package (1) -- (0..*) PickupToken (At most one active token)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Multiplicity: Package (1) -- (0..1) PickupRecord (Handover proof; UNIQUE(package_id))</a:t>
            </a:r>
          </a:p>
        </p:txBody>
      </p:sp>
      <p:pic>
        <p:nvPicPr>
          <p:cNvPr id="5" name="Picture 4" descr="02_class_diagram_domain_ent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3: Object-Oriented Design (4 Pillars)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Abstraction, Encapsulation, Inheritance, and Polymorphism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Abstraction: StorageAllocationStrategy and NotificationChannel defined via typing.Protocol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Encapsulation: StorageCandidate.accepts(size) encapsulates dimension &amp; free slot validation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Encapsulation: PackageTransitioner.apply() encapsulates status change, audit, and events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Inheritance: Document base model inherited by 10 entities; custom AppException hierarchy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Polymorphism: SuitableSizeStrategy &amp; FirstAvailableStrategy satisfy rank() polymorphically</a:t>
            </a:r>
          </a:p>
        </p:txBody>
      </p:sp>
      <p:pic>
        <p:nvPicPr>
          <p:cNvPr id="5" name="Picture 4" descr="03_class_diagram_services_an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4: SOLID Principles Mapped to Code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Direct Code Evidence for S, O, L, I, and D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 (Single Responsibility): Dedicated services (PackageIntakeService, StorageAllocationService, PickupService)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O (Open/Closed): Strategies and notification channels registered in container.py without editing services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L (Liskov Substitution): Strategies and channels honor identical contracts without side effects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I (Interface Segregation): Micro-protocols with single methods (rank(), send())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D (Dependency Inversion): Services receive abstract protocols; wired in Composition Root (container.py)</a:t>
            </a:r>
          </a:p>
        </p:txBody>
      </p:sp>
      <p:pic>
        <p:nvPicPr>
          <p:cNvPr id="5" name="Picture 4" descr="13_design_pattern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5: Design Patterns &amp; Architectural Justifications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State, Strategy, Observer, Repository, Unit of Work, and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State Pattern (Table FSM): 12 statuses, 19 valid edges with guards in domain/state_machine.py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Strategy Pattern: SuitableSizeStrategy vs. FirstAvailableStrategy in domain/allocation.py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Observer Pattern: In-process EventBus publishes PackageStatusChanged to NotificationDispatcher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Repository &amp; Unit of Work: Decouples PyMongo queries and coordinates atomic transactions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Factory Pattern: NotificationChannelFactory builds configured notification channels</a:t>
            </a:r>
          </a:p>
        </p:txBody>
      </p:sp>
      <p:pic>
        <p:nvPicPr>
          <p:cNvPr id="5" name="Picture 4" descr="10_state_mach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6: Sequence &amp; Activity Diagrams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Intake, Cryptographic Token Issuance, and Handover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Intake Flow: Courier scan -&gt; Student match -&gt; Strategy rank -&gt; Atomic shelf reserve -&gt; Stored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Token Issuance: Ownership check -&gt; Revoke active -&gt; HMAC-SHA256 salted hash -&gt; 30-min timer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Handover Sequence: Lock package -&gt; Validate recipient &amp; token -&gt; Atomic mark_used() CAS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Handover Completion: Update COLLECTED -&gt; Release shelf -&gt; Write immutable PickupRecord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Alternate Flows: Expired token (400), 3 wrong attempts (Locked), Damaged package diversion</a:t>
            </a:r>
          </a:p>
        </p:txBody>
      </p:sp>
      <p:pic>
        <p:nvPicPr>
          <p:cNvPr id="5" name="Picture 4" descr="07_sequence_pickup_handover_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7: API &amp; Interface Design (RESTful Clean Architecture)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Pydantic v2 DTOs, Role-Aware Presenters, and Idempotency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Resource Hierarchy: /api/v1/packages, /api/v1/pickups, /api/v1/storage, /api/v1/incidents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Pydantic Validation: Institutional ID regex, phone regex, courier tracking normalizers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Role-Aware Presenters: presenters.py masks internal security notes when viewed by students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RFC 7807 Error Responses: Standardized JSON payloads (code, message, detail)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Network Idempotency: Mutation endpoints support Idempotency-Key with SHA-256 fingerprinting</a:t>
            </a:r>
          </a:p>
        </p:txBody>
      </p:sp>
      <p:pic>
        <p:nvPicPr>
          <p:cNvPr id="5" name="Picture 4" descr="06_sequence_pickup_request_and_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8: Database Schema, Indexing &amp; Concurrency Control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10 Collections, Compound Indexes, and Atomic CAS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Unique Indexes: users.institutional_id, packages.tracking_id, pickup_records.package_id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Compound Indexes: packages(status, arrived_at), notifications(user_id, created_at)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Atomic CAS Shelf Reservation: find_one_and_update with $expr: {$lt: ['$occupied_count', '$capacity']}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Atomic CAS Token Redemption: find_one_and_update with used_at: None, revoked_at: None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Double Handover Defense: pickup_records.package_id unique index rejects secondary insertions</a:t>
            </a:r>
          </a:p>
        </p:txBody>
      </p:sp>
      <p:pic>
        <p:nvPicPr>
          <p:cNvPr id="5" name="Picture 4" descr="12_database_er_schem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3876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9: Error Handling, Validation &amp; 20 Edge Cases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Defensive Architecture, Brute-Force Lockout &amp; Overdue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Comprehensive Domain Exceptions: AppException -&gt; ConflictError, NotFoundError, etc.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Double Handover Race: Prevented by atomic token CAS &amp; unique pickup_records index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Brute Force Lockout: 3 failed attempts lock token; IP sliding window rate limit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Zero-Knowledge Token Storage: Salted HMAC-SHA256 hash stored; plaintext never in database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Damaged on Intake: Diverts to DAMAGED state and opens incident investigation ticket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Automated 3-Day Overdue: Daily notifications sent; awaiting_storage counter incremented</a:t>
            </a:r>
          </a:p>
        </p:txBody>
      </p:sp>
      <p:pic>
        <p:nvPicPr>
          <p:cNvPr id="5" name="Picture 4" descr="09_activity_concurrency_storage_hand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Criterion 10: Working Implementation &amp; Testing Rigor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81 Automated Pytest Suites &amp; Bilingual React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Backend: Python 3.12, FastAPI, PyMongo, Pydantic v2, Pytest (81 tests passing)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Frontend: React 18, TypeScript, Vite, Tailwind CSS, Lucide Icons, Context state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Accessibility: 100% Hindi/English Bilingual Localization toggle across all pages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Test Coverage: test_allocation, test_rules, test_state_machine, test_auth, test_pickup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Concurrency Test: test_concurrent_handover_results_in_exactly_one_collection passes</a:t>
            </a:r>
          </a:p>
        </p:txBody>
      </p:sp>
      <p:pic>
        <p:nvPicPr>
          <p:cNvPr id="5" name="Picture 4" descr="08_activity_package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5-Minute Live System Evaluation Demonstration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Dual-Browser Live Walkthrough Across Guard and Student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Step 1: Guard intakes Amazon shipment AMZ-998811; matches student Ananya Iyer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Step 2: SuitableSizeStrategy auto-allocates optimal shelf slot G2-A1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Step 3: Student receives real-time notification; clicks [Get Pickup Code]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Step 4: System generates 6-digit code with live 30-minute countdown timer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Step 5: Guard enters ID &amp; code -&gt; Atomic verification &amp; handover completion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Step 6: Guard re-submits identical code -&gt; System returns 409 Conflict rejection</a:t>
            </a:r>
          </a:p>
        </p:txBody>
      </p:sp>
      <p:pic>
        <p:nvPicPr>
          <p:cNvPr id="5" name="Picture 4" descr="07_sequence_pickup_handover_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Limitations, Scalability &amp; Production Roadmap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Acknowledging Design Trade-offs &amp; Future Multi-Campus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Current Boundaries (M1): Single-node MongoDB, in-process EventBus, console mock SMS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Multi-Gate Sharding (M2): Shard MongoDB collections by campus_id and gate_id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Transactional Outbox: Apache Kafka / RabbitMQ broker for guaranteed event streaming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AI Barcode OCR Camera: Hardware camera integration at Gate No. 2 for 2-second touchless intake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Disaster Recovery: Point-in-time oplog backups with 99.99% availability SLA</a:t>
            </a:r>
          </a:p>
        </p:txBody>
      </p:sp>
      <p:pic>
        <p:nvPicPr>
          <p:cNvPr id="5" name="Picture 4" descr="11_componen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Master Viva Defense Matrix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10/10 Evaluation Criteria Satisfied with Verifiable Code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State Machine Table: backend/app/domain/state_machine.py:63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Strategy Pattern: backend/app/domain/allocation.py:31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Atomic Storage CAS: backend/app/repositories/mongo_repos.py:338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Atomic Token CAS: backend/app/repositories/mongo_repos.py:384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Anti-Double Handover: backend/app/services/pickup.py:81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Composition Root (DIP): backend/app/container.py:30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 Thank you! We welcome the evaluation committee's questions and code review.</a:t>
            </a:r>
          </a:p>
        </p:txBody>
      </p:sp>
      <p:pic>
        <p:nvPicPr>
          <p:cNvPr id="5" name="Picture 4" descr="13_design_pattern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389120" cy="2125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